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2" r:id="rId8"/>
    <p:sldId id="260" r:id="rId9"/>
    <p:sldId id="263" r:id="rId10"/>
    <p:sldId id="264" r:id="rId11"/>
    <p:sldId id="270" r:id="rId12"/>
    <p:sldId id="271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87775" cy="4206240"/>
          </a:xfrm>
          <a:prstGeom prst="rect">
            <a:avLst/>
          </a:prstGeom>
          <a:solidFill>
            <a:srgbClr val="184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3520440"/>
            <a:ext cx="3687775" cy="82296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051560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D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结课汇报 · 2026.9.17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EFE5CF"/>
                </a:solidFill>
                <a:latin typeface="微软雅黑" panose="020B0503020204020204" charset="-122"/>
              </a:rPr>
              <a:t>Python 卡牌创作工坊</a:t>
            </a:r>
            <a:endParaRPr sz="4400" b="1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" y="254203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EBB12F"/>
                </a:solidFill>
                <a:latin typeface="微软雅黑" panose="020B0503020204020204" charset="-122"/>
              </a:rPr>
              <a:t>自己造卡牌，立刻进对局验证</a:t>
            </a:r>
            <a:endParaRPr sz="22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680" y="3200400"/>
            <a:ext cx="1280160" cy="64008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456432"/>
            <a:ext cx="7498079" cy="1250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400" b="0">
                <a:solidFill>
                  <a:srgbClr val="EFE5CF"/>
                </a:solidFill>
                <a:latin typeface="微软雅黑" panose="020B0503020204020204" charset="-122"/>
              </a:rPr>
              <a:t>完成人：</a:t>
            </a:r>
            <a:r>
              <a:rPr lang="zh-CN" sz="2400" b="0">
                <a:solidFill>
                  <a:srgbClr val="EFE5CF"/>
                </a:solidFill>
                <a:latin typeface="微软雅黑" panose="020B0503020204020204" charset="-122"/>
              </a:rPr>
              <a:t>孙浩程</a:t>
            </a:r>
            <a:r>
              <a:rPr lang="en-US" altLang="zh-CN" sz="2400" b="0">
                <a:solidFill>
                  <a:srgbClr val="EFE5CF"/>
                </a:solidFill>
                <a:latin typeface="微软雅黑" panose="020B0503020204020204" charset="-122"/>
              </a:rPr>
              <a:t>   </a:t>
            </a:r>
            <a:r>
              <a:rPr lang="zh-CN" altLang="en-US" sz="2400" b="0">
                <a:solidFill>
                  <a:srgbClr val="EFE5CF"/>
                </a:solidFill>
                <a:latin typeface="微软雅黑" panose="020B0503020204020204" charset="-122"/>
              </a:rPr>
              <a:t>申宇乐</a:t>
            </a:r>
            <a:endParaRPr lang="zh-CN" altLang="en-US" sz="2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lang="zh-CN" sz="2400" b="0">
                <a:solidFill>
                  <a:srgbClr val="EFE5CF"/>
                </a:solidFill>
                <a:latin typeface="微软雅黑" panose="020B0503020204020204" charset="-122"/>
              </a:rPr>
              <a:t>指导老师：黄天羽</a:t>
            </a:r>
            <a:endParaRPr lang="zh-CN" sz="1600" b="0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7810" y="0"/>
            <a:ext cx="5583555" cy="41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项目介绍：把“做游戏”变成“做工具”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298448"/>
            <a:ext cx="5120640" cy="123444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298448"/>
            <a:ext cx="64008" cy="1234440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4828031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做什么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FE5CF"/>
                </a:solidFill>
                <a:latin typeface="微软雅黑" panose="020B0503020204020204" charset="-122"/>
              </a:rPr>
              <a:t>玩家不用改代码，填名称，费用，类型和效果就能造一张牌；</a:t>
            </a:r>
            <a:endParaRPr sz="12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FE5CF"/>
                </a:solidFill>
                <a:latin typeface="微软雅黑" panose="020B0503020204020204" charset="-122"/>
              </a:rPr>
              <a:t>保存后加入卡组，立刻能进对局打出它，验证数值和效果。</a:t>
            </a:r>
            <a:endParaRPr sz="12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" y="2670048"/>
            <a:ext cx="5120640" cy="96012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2670048"/>
            <a:ext cx="64008" cy="960120"/>
          </a:xfrm>
          <a:prstGeom prst="rect">
            <a:avLst/>
          </a:prstGeom>
          <a:solidFill>
            <a:srgbClr val="24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8"/>
            <a:ext cx="4828031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给谁用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FE5CF"/>
                </a:solidFill>
                <a:latin typeface="微软雅黑" panose="020B0503020204020204" charset="-122"/>
              </a:rPr>
              <a:t>想改卡牌数值，想验证自己设计的</a:t>
            </a:r>
            <a:r>
              <a:rPr lang="en-US" sz="1200" b="0">
                <a:solidFill>
                  <a:srgbClr val="EFE5CF"/>
                </a:solidFill>
                <a:latin typeface="微软雅黑" panose="020B0503020204020204" charset="-122"/>
              </a:rPr>
              <a:t>MOD</a:t>
            </a:r>
            <a:r>
              <a:rPr lang="zh-CN" altLang="en-US" sz="1200" b="0">
                <a:solidFill>
                  <a:srgbClr val="EFE5CF"/>
                </a:solidFill>
                <a:latin typeface="微软雅黑" panose="020B0503020204020204" charset="-122"/>
              </a:rPr>
              <a:t>设计者</a:t>
            </a:r>
            <a:r>
              <a:rPr sz="1200" b="0">
                <a:solidFill>
                  <a:srgbClr val="EFE5CF"/>
                </a:solidFill>
                <a:latin typeface="微软雅黑" panose="020B0503020204020204" charset="-122"/>
              </a:rPr>
              <a:t>；不会写 Python 也能用。</a:t>
            </a:r>
            <a:endParaRPr sz="12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5216" y="3767328"/>
            <a:ext cx="5120640" cy="123444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" y="3767328"/>
            <a:ext cx="64008" cy="1234440"/>
          </a:xfrm>
          <a:prstGeom prst="rect">
            <a:avLst/>
          </a:prstGeom>
          <a:solidFill>
            <a:srgbClr val="D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58768"/>
            <a:ext cx="4828031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不做什么(主动取舍)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FE5CF"/>
                </a:solidFill>
                <a:latin typeface="微软雅黑" panose="020B0503020204020204" charset="-122"/>
              </a:rPr>
              <a:t>不做地图，商店，剧情 —— 只把“造牌 → 验证”这一条主线做完整。</a:t>
            </a:r>
            <a:endParaRPr sz="12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FE5CF"/>
                </a:solidFill>
                <a:latin typeface="微软雅黑" panose="020B0503020204020204" charset="-122"/>
              </a:rPr>
              <a:t>一周时间的取舍：一条链路做透，比到处都粗糙更值。</a:t>
            </a:r>
            <a:endParaRPr sz="12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43600" y="1298448"/>
          <a:ext cx="566013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621"/>
                <a:gridCol w="4754514"/>
              </a:tblGrid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范围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效果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10 种：伤害(可多段)，格挡，抽牌，能量，易伤，虚弱，力量，治疗，失血，生成素材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组合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一张牌最多 3 条效果，按顺序结算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类型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攻击 / 技能 / 能力 / 素材(素材牌是玩家能造的“装备”)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卡面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按效果自动生成文字，界面实时预览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0" y="4818888"/>
            <a:ext cx="5660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BB12F"/>
                </a:solidFill>
                <a:latin typeface="微软雅黑" panose="020B0503020204020204" charset="-122"/>
              </a:rPr>
              <a:t>存成 JSON 后，玩家卡与系统卡走同一套结算器。</a:t>
            </a:r>
            <a:endParaRPr sz="12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现场演示：造一张素材牌，装上去再打出来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298448"/>
            <a:ext cx="5394960" cy="290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2000" b="1">
                <a:solidFill>
                  <a:srgbClr val="DA5B4B"/>
                </a:solidFill>
                <a:latin typeface="微软雅黑" panose="020B0503020204020204" charset="-122"/>
              </a:rPr>
              <a:t> 造牌(造牌端)</a:t>
            </a:r>
            <a:endParaRPr sz="2000" b="1">
              <a:solidFill>
                <a:srgbClr val="DA5B4B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① 类型选“素材”：亮片贴纸 / 造成伤害 3 / 类别 永久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② 故意填 1200 → 提示“要在 1 到 999 之间”，非法数据进不了存档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③ 改回 3 保存 → 加入卡组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00" b="1">
                <a:solidFill>
                  <a:srgbClr val="6EA8D8"/>
                </a:solidFill>
                <a:latin typeface="微软雅黑" panose="020B0503020204020204" charset="-122"/>
              </a:rPr>
              <a:t> 打出来(战斗端)</a:t>
            </a:r>
            <a:endParaRPr sz="1300" b="1">
              <a:solidFill>
                <a:srgbClr val="6EA8D8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④ 点素材牌(黄框)→ 点一张手牌(绿框)→ 素材装上去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⑤ 打出那张牌 → 敌人多掉 3 点血，能量扣掉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5216" y="450646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FFE9B8"/>
                </a:solidFill>
                <a:latin typeface="Consolas" panose="020B0609020204030204"/>
              </a:rPr>
              <a:t>cd D:\Soyoi</a:t>
            </a:r>
            <a:endParaRPr sz="105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FFE9B8"/>
                </a:solidFill>
                <a:latin typeface="Consolas" panose="020B0609020204030204"/>
              </a:rPr>
              <a:t>python main.py            # 造牌端(B 操作)</a:t>
            </a:r>
            <a:endParaRPr sz="105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FFE9B8"/>
                </a:solidFill>
                <a:latin typeface="Consolas" panose="020B0609020204030204"/>
              </a:rPr>
              <a:t>python main.py --battle   # 战斗端(A 操作)</a:t>
            </a:r>
            <a:endParaRPr sz="1050" b="0">
              <a:solidFill>
                <a:srgbClr val="FFE9B8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216" y="53218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BB12F"/>
                </a:solidFill>
                <a:latin typeface="微软雅黑" panose="020B0503020204020204" charset="-122"/>
              </a:rPr>
              <a:t>这一步证明：玩家造的数据被引擎按同一套规则结算。</a:t>
            </a:r>
            <a:endParaRPr sz="12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pic>
        <p:nvPicPr>
          <p:cNvPr id="12" name="Picture 11" descr="creator_ui.png"/>
          <p:cNvPicPr>
            <a:picLocks noChangeAspect="1"/>
          </p:cNvPicPr>
          <p:nvPr/>
        </p:nvPicPr>
        <p:blipFill>
          <a:blip r:embed="rId1"/>
          <a:srcRect l="5294" t="9243"/>
          <a:stretch>
            <a:fillRect/>
          </a:stretch>
        </p:blipFill>
        <p:spPr>
          <a:xfrm>
            <a:off x="6546850" y="1650365"/>
            <a:ext cx="5066030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软件架构设计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0B2A6"/>
                </a:solidFill>
                <a:latin typeface="微软雅黑" panose="020B0503020204020204" charset="-122"/>
              </a:rPr>
              <a:t>四个职责文件 + 一个战斗框架；除界面层外，任何模块都不 import tkinter / pygame</a:t>
            </a:r>
            <a:endParaRPr sz="125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31383D">
                  <a:alpha val="100000"/>
                </a:srgbClr>
              </a:clrFrom>
              <a:clrTo>
                <a:srgbClr val="31383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125220" y="1298575"/>
            <a:ext cx="10363835" cy="5419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76415" y="1298448"/>
            <a:ext cx="3840480" cy="2781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>
                <a:solidFill>
                  <a:srgbClr val="EBB12F"/>
                </a:solidFill>
                <a:latin typeface="微软雅黑" panose="020B0503020204020204" charset="-122"/>
              </a:rPr>
              <a:t>这样分带来的三个好处</a:t>
            </a:r>
            <a:endParaRPr sz="2000" b="1">
              <a:solidFill>
                <a:srgbClr val="EBB12F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① 逻辑层能脱离窗口跑测试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B0B2A6"/>
                </a:solidFill>
                <a:latin typeface="微软雅黑" panose="020B0503020204020204" charset="-122"/>
              </a:rPr>
              <a:t>　 数据处理与战斗规则都不依赖显示环境</a:t>
            </a:r>
            <a:endParaRPr sz="1600" b="0">
              <a:solidFill>
                <a:srgbClr val="B0B2A6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② 两人可同时改不同层不冲突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0">
                <a:solidFill>
                  <a:srgbClr val="B0B2A6"/>
                </a:solidFill>
                <a:latin typeface="微软雅黑" panose="020B0503020204020204" charset="-122"/>
              </a:rPr>
              <a:t>　 接口只有“卡牌记录”和“出牌指令”两种</a:t>
            </a:r>
            <a:endParaRPr sz="1600" b="0">
              <a:solidFill>
                <a:srgbClr val="B0B2A6"/>
              </a:solidFill>
              <a:latin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endParaRPr sz="160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关键功能与算法实现(战斗端)+ 素材系统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470" y="1298575"/>
            <a:ext cx="5577840" cy="447929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470" y="1298575"/>
            <a:ext cx="76200" cy="4479290"/>
          </a:xfrm>
          <a:prstGeom prst="rect">
            <a:avLst/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5285231" cy="278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一次出牌的结算顺序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0">
                <a:solidFill>
                  <a:srgbClr val="EFE5CF"/>
                </a:solidFill>
                <a:latin typeface="微软雅黑" panose="020B0503020204020204" charset="-122"/>
              </a:rPr>
              <a:t>① 逐条执行效果列表(列表在卡牌数据里)</a:t>
            </a:r>
            <a:endParaRPr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0">
                <a:solidFill>
                  <a:srgbClr val="EFE5CF"/>
                </a:solidFill>
                <a:latin typeface="微软雅黑" panose="020B0503020204020204" charset="-122"/>
              </a:rPr>
              <a:t>② 伤害 = 基础 + 力量，× 虚弱，× 易伤</a:t>
            </a:r>
            <a:endParaRPr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0">
                <a:solidFill>
                  <a:srgbClr val="EFE5CF"/>
                </a:solidFill>
                <a:latin typeface="微软雅黑" panose="020B0503020204020204" charset="-122"/>
              </a:rPr>
              <a:t>③ 先扣格挡，再扣血(格挡不溢出到生命)</a:t>
            </a:r>
            <a:endParaRPr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0">
                <a:solidFill>
                  <a:srgbClr val="EFE5CF"/>
                </a:solidFill>
                <a:latin typeface="微软雅黑" panose="020B0503020204020204" charset="-122"/>
              </a:rPr>
              <a:t>④ 其他效果：抽牌 / 给能量 / 上状态</a:t>
            </a:r>
            <a:endParaRPr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0">
                <a:solidFill>
                  <a:srgbClr val="EFE5CF"/>
                </a:solidFill>
                <a:latin typeface="微软雅黑" panose="020B0503020204020204" charset="-122"/>
              </a:rPr>
              <a:t>⑤ 决定去向：消耗？返手？否则进弃牌堆</a:t>
            </a:r>
            <a:endParaRPr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b="0">
                <a:solidFill>
                  <a:srgbClr val="EFE5CF"/>
                </a:solidFill>
                <a:latin typeface="微软雅黑" panose="020B0503020204020204" charset="-122"/>
              </a:rPr>
              <a:t>⑥ 判定胜负，敌人还活着就进入下一回合</a:t>
            </a:r>
            <a:endParaRPr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indent="0" algn="l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endParaRPr sz="140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5080" y="1298448"/>
            <a:ext cx="5230368" cy="141732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298448"/>
            <a:ext cx="64008" cy="1417320"/>
          </a:xfrm>
          <a:prstGeom prst="rect">
            <a:avLst/>
          </a:prstGeom>
          <a:solidFill>
            <a:srgbClr val="D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389888"/>
            <a:ext cx="4937759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素材机制 · 第一步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打出带“生成素材”的牌 → 素材变成一张手牌，不自动上身；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点素材牌 → 再点一张手牌 → 装到那张牌上(每张牌 3 个槽)。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55080" y="2852928"/>
            <a:ext cx="5230368" cy="164592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852928"/>
            <a:ext cx="64008" cy="1645920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944368"/>
            <a:ext cx="4937759" cy="1229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</a:rPr>
              <a:t>素材机制 · 第二步与结算</a:t>
            </a:r>
            <a:endParaRPr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槽满了不丢素材，与轮到的那个槽合料(诅咒素材不能合)；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被装的牌下次打出时才结算素材效果(如拼豆色包 +3 伤害)；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素材牌不能打出，不花能量，回合结束也不掉。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造牌链路(流程图一)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0B2A6"/>
                </a:solidFill>
                <a:latin typeface="微软雅黑" panose="020B0503020204020204" charset="-122"/>
              </a:rPr>
              <a:t>填表 → 校验 → 存档 → 加入卡组；校验不过就不落盘</a:t>
            </a:r>
            <a:endParaRPr sz="125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chart_creator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31383D">
                  <a:alpha val="100000"/>
                </a:srgbClr>
              </a:clrFrom>
              <a:clrTo>
                <a:srgbClr val="31383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13665" y="1298575"/>
            <a:ext cx="5160645" cy="57143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0" y="1298448"/>
            <a:ext cx="7040880" cy="304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EBB12F"/>
                </a:solidFill>
                <a:latin typeface="微软雅黑" panose="020B0503020204020204" charset="-122"/>
              </a:rPr>
              <a:t>校验这一关有五条(不过就把提示显示在出错那一行)</a:t>
            </a:r>
            <a:endParaRPr sz="2000" b="1">
              <a:solidFill>
                <a:srgbClr val="EBB12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① 名称不能为空，不超过 20 字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② 费用必须是 0~3 的整数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③ 效果 1~3 条，每条的数值都在该效果的范围里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④ 素材牌多一条：类别必须是 一次性 / 普通 / 永久 / 诅咒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⑤ 同一种效果，同一个数值填两遍会被判为手滑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endParaRPr sz="1400"/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合法才整理成一条卡牌记录 → 存成 JSON → 写进卡组；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目录里就算有坏文件，也只是跳过并提示，游戏照常启动。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对局验证链路(流程图二)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0B2A6"/>
                </a:solidFill>
                <a:latin typeface="微软雅黑" panose="020B0503020204020204" charset="-122"/>
              </a:rPr>
              <a:t>一条主线走到底：组牌 → 出牌 → 结算 → 判定胜负</a:t>
            </a:r>
            <a:endParaRPr sz="125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owchart_battle.png"/>
          <p:cNvPicPr>
            <a:picLocks noChangeAspect="1"/>
          </p:cNvPicPr>
          <p:nvPr/>
        </p:nvPicPr>
        <p:blipFill>
          <a:blip r:embed="rId1">
            <a:clrChange>
              <a:clrFrom>
                <a:srgbClr val="31383D">
                  <a:alpha val="100000"/>
                </a:srgbClr>
              </a:clrFrom>
              <a:clrTo>
                <a:srgbClr val="31383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55575" y="1337310"/>
            <a:ext cx="4863465" cy="54584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46855" y="1298448"/>
            <a:ext cx="8321040" cy="3814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b="1">
                <a:solidFill>
                  <a:srgbClr val="EBB12F"/>
                </a:solidFill>
                <a:latin typeface="微软雅黑" panose="020B0503020204020204" charset="-122"/>
              </a:rPr>
              <a:t>三段各有一处关键设计</a:t>
            </a:r>
            <a:endParaRPr sz="1400" b="1">
              <a:solidFill>
                <a:srgbClr val="EBB12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组牌：读卡牌目录，坏文件跳过并提示，不会让游戏起不来；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　　　转成引擎结构后与角色起始牌组拼成一副牌。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endParaRPr sz="1600"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出牌：界面不直接改血量，只发“出这张牌打这个目标”的指令；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　　　引擎做四道校验 —— 是不是玩家回合 / 牌在不在手牌 /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　　　能量够不够 / 目标合不合法。打不出就说明原因，能量和牌都不动。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endParaRPr sz="1600"/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结算：逐条执行效果列表，伤害 = 基础 + 力量，再乘虚弱与易伤，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　　　先扣格挡再扣血；结算完决定牌的去向并判定胜负，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600" b="0">
                <a:solidFill>
                  <a:srgbClr val="EFE5CF"/>
                </a:solidFill>
                <a:latin typeface="微软雅黑" panose="020B0503020204020204" charset="-122"/>
              </a:rPr>
              <a:t>　　　敌人还活着就进入下一回合，回到“出牌”。</a:t>
            </a:r>
            <a:endParaRPr sz="16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关键功能与算法实现(创作端)：校验与数据契约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0B2A6"/>
                </a:solidFill>
                <a:latin typeface="微软雅黑" panose="020B0503020204020204" charset="-122"/>
              </a:rPr>
              <a:t>表单字符串 → 一条记录 → 引擎唯一认识的结构</a:t>
            </a:r>
            <a:endParaRPr sz="125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298448"/>
            <a:ext cx="5577840" cy="146304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298448"/>
            <a:ext cx="64008" cy="1463040"/>
          </a:xfrm>
          <a:prstGeom prst="rect">
            <a:avLst/>
          </a:prstGeom>
          <a:solidFill>
            <a:srgbClr val="6E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52852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① 数据契约：三步走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make_card_record() 校验并整理成一条记录，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make_card_spec() 转成 CardSpec(素材牌走 make_material_spec);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过了这一步，玩家卡和系统卡没有区别。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" y="2898648"/>
            <a:ext cx="5577840" cy="141732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2898648"/>
            <a:ext cx="64008" cy="1417320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90088"/>
            <a:ext cx="528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② 读回来再校验 + 表驱动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读 JSON 时用跟表单完全一样的规则再校验一遍，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手改文件把伤害写成 99999 也进不了游戏；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效果的中文名 / 数值范围 / 卡面模板各是一张表，加效果只加表项。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1298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48184"/>
                </a:solidFill>
                <a:latin typeface="微软雅黑" panose="020B0503020204020204" charset="-122"/>
              </a:rPr>
              <a:t>卡牌 JSON(一条卡一个文件)</a:t>
            </a:r>
            <a:endParaRPr sz="1200" b="1">
              <a:solidFill>
                <a:srgbClr val="248184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5080" y="1591056"/>
            <a:ext cx="52120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{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"schema_version": 1,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"card_id": "user_20260916132935421275",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"title": "重击", "cost": 2,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"card_type": "attack", "target": "enemy",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"keywords": [],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"text": "造成12点伤害。",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"effects": [{ "op": "damage", "value": 12, "hits": 1 }]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}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5080" y="3584448"/>
            <a:ext cx="52120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48184"/>
                </a:solidFill>
                <a:latin typeface="微软雅黑" panose="020B0503020204020204" charset="-122"/>
              </a:rPr>
              <a:t>敌人脚本</a:t>
            </a:r>
            <a:endParaRPr sz="1200" b="1">
              <a:solidFill>
                <a:srgbClr val="248184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55080" y="3877056"/>
            <a:ext cx="52120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id = manhole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name = 井盖怪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hp = 40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attack 9                # 攻击 9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defend 6                # 套 6 点格挡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attack 7 effect=weak,1  # 攻击 7 + 让你虚弱 1 层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素材牌类型：玩家也能造“装备”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0B2A6"/>
                </a:solidFill>
                <a:latin typeface="微软雅黑" panose="020B0503020204020204" charset="-122"/>
              </a:rPr>
              <a:t>创作端新增“素材”类型 —— 造出来的素材能装到别的牌上</a:t>
            </a:r>
            <a:endParaRPr sz="125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298448"/>
            <a:ext cx="5577840" cy="146304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" y="1298448"/>
            <a:ext cx="64008" cy="1463040"/>
          </a:xfrm>
          <a:prstGeom prst="rect">
            <a:avLst/>
          </a:prstGeom>
          <a:solidFill>
            <a:srgbClr val="DA5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89888"/>
            <a:ext cx="52852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造一张素材牌要填什么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类型选“素材”后：不填费用，不选目标，效果换成素材效果，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FE5CF"/>
                </a:solidFill>
                <a:latin typeface="微软雅黑" panose="020B0503020204020204" charset="-122"/>
              </a:rPr>
              <a:t>第三个下拉框从“稀有度”变成“类别”：一次性 / 普通 / 永久 / 诅咒。</a:t>
            </a:r>
            <a:endParaRPr sz="115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85216" y="2898648"/>
          <a:ext cx="55778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260"/>
                <a:gridCol w="2119579"/>
              </a:tblGrid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素材效果(9 种)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取值范围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造成伤害 / 获得格挡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1~999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给予易伤 / 给予虚弱 / 获得覆甲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1~9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获得能量 / 抽牌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1~3 / 1~5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承载牌可保留 / 承载牌耗能+1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— / 1~3</a:t>
                      </a:r>
                      <a:endParaRPr sz="10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85216" y="555040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BB12F"/>
                </a:solidFill>
                <a:latin typeface="微软雅黑" panose="020B0503020204020204" charset="-122"/>
              </a:rPr>
              <a:t>这之前素材只能从系统 6 种里随机出，玩家无法设计。</a:t>
            </a:r>
            <a:endParaRPr sz="115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5080" y="1298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48184"/>
                </a:solidFill>
                <a:latin typeface="微软雅黑" panose="020B0503020204020204" charset="-122"/>
              </a:rPr>
              <a:t>自制素材牌的 JSON(片段)</a:t>
            </a:r>
            <a:endParaRPr sz="1200" b="1">
              <a:solidFill>
                <a:srgbClr val="24818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591056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{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"card_id": "sparkle_sticker",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"title": "亮片贴纸",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"card_type": "material",     // 素材类型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"rarity": "permanent",       // 这里是类别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"text": "承载牌打出后额外造成3点伤害。",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"effects": [{ "op": "material_damage",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                "value": 3, "hits": 1 }]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FFE9B8"/>
                </a:solidFill>
                <a:latin typeface="Consolas" panose="020B0609020204030204"/>
              </a:rPr>
              <a:t>}</a:t>
            </a:r>
            <a:endParaRPr sz="1000" b="0">
              <a:solidFill>
                <a:srgbClr val="FFE9B8"/>
              </a:solidFill>
              <a:latin typeface="Consolas" panose="020B0609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55080" y="3675887"/>
            <a:ext cx="5212080" cy="1874519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675887"/>
            <a:ext cx="64008" cy="1874519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3767327"/>
            <a:ext cx="4919472" cy="1368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它怎么用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① 随当前卡组进对局，被抽到手牌里；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② 点素材牌 → 点一张手牌 → 装上去(3 个槽，满了合料)；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③ 承载牌下次打出时结算素材效果。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8FE3A4"/>
                </a:solidFill>
                <a:latin typeface="微软雅黑" panose="020B0503020204020204" charset="-122"/>
              </a:rPr>
              <a:t>等于玩家自己造了一件装备。</a:t>
            </a:r>
            <a:endParaRPr sz="1400" b="1">
              <a:solidFill>
                <a:srgbClr val="8FE3A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真实源码(一)：数据层与卡组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B0B2A6"/>
                </a:solidFill>
                <a:latin typeface="微软雅黑" panose="020B0503020204020204" charset="-122"/>
              </a:rPr>
              <a:t>card_creator.py —— 表驱动常量 · 卡组新建(4 打击 + 4 防御)· 选中的卡组就是实战用的那副</a:t>
            </a:r>
            <a:endParaRPr sz="120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35024"/>
            <a:ext cx="5532120" cy="452628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64008" cy="4526280"/>
          </a:xfrm>
          <a:prstGeom prst="rect">
            <a:avLst/>
          </a:prstGeom>
          <a:solidFill>
            <a:srgbClr val="24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221224" cy="364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248184"/>
                </a:solidFill>
                <a:latin typeface="微软雅黑" panose="020B0503020204020204" charset="-122"/>
              </a:rPr>
              <a:t>card_creator.py · 表驱动常量(第 68 行起)</a:t>
            </a:r>
            <a:endParaRPr sz="1150" b="1">
              <a:solidFill>
                <a:srgbClr val="248184"/>
              </a:solidFill>
              <a:latin typeface="微软雅黑" panose="020B0503020204020204" charset="-122"/>
            </a:endParaRPr>
          </a:p>
          <a:p>
            <a:pPr>
              <a:lnSpc>
                <a:spcPct val="110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EFFECTS = {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"damage": RewardEffectOperation.DAMAGE,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"block": RewardEffectOperation.GAIN_BLOCK,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"draw": RewardEffectOperation.DRAW_CARDS,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...                                   # 一共 10 种效果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}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EFFECT_LABELS = {"damage": "造成伤害",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             "block": "获得格挡", ...}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VALUE_LIMITS = {"damage": (1, 999), "draw": (1, 5),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            "energy": (1, 3), ...}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EFFECT_TEXTS = {"damage": "造成{value}点伤害。", ...}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DAMAGE_EFFECTS = ("damage", "material_damage")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endParaRPr sz="1200"/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if operation in DAMAGE_EFFECTS: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hits, problem = check_number(raw.get("hits", 1),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1200" b="0">
                <a:solidFill>
                  <a:srgbClr val="EFE5CF"/>
                </a:solidFill>
                <a:latin typeface="Consolas" panose="020B0609020204030204"/>
              </a:rPr>
              <a:t>                                 "段数", MIN_HITS, MAX_HITS)</a:t>
            </a:r>
            <a:endParaRPr sz="1200" b="0">
              <a:solidFill>
                <a:srgbClr val="EFE5CF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5080" y="1335024"/>
            <a:ext cx="5285232" cy="452628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35024"/>
            <a:ext cx="64008" cy="4526280"/>
          </a:xfrm>
          <a:prstGeom prst="rect">
            <a:avLst/>
          </a:prstGeom>
          <a:solidFill>
            <a:srgbClr val="24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444752"/>
            <a:ext cx="4974336" cy="357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248184"/>
                </a:solidFill>
                <a:latin typeface="微软雅黑" panose="020B0503020204020204" charset="-122"/>
              </a:rPr>
              <a:t>card_creator.py · 卡组的新建与选中(第 50 / 634 / 817 行起)</a:t>
            </a:r>
            <a:endParaRPr sz="1150" b="1">
              <a:solidFill>
                <a:srgbClr val="248184"/>
              </a:solidFill>
              <a:latin typeface="微软雅黑" panose="020B0503020204020204" charset="-122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# 新建卡组的底子：4 张打击 + 4 张防御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BASE_DECK_CARDS = {"strike_soyoi": 4, "defend_soyoi": 4}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SAMPLE_DECK_ID = "sample"        # 内置示例卡组（只读）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def new_deck(name="我的卡组"):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deck_name = str(name or "").strip() or "我的卡组"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return {"deck_id": make_deck_id(deck_name),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"name": deck_name,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"cards": dict(BASE_DECK_CARDS)}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def resolve_deck(cards_dir=None, decks_dir=None, deck_id=None):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migrate_old_test_deck(cards_dir, decks_dir)   # 老清单自动升级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decks = all_decks(decks_dir)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deck = find_deck(decks, deck_id) if deck_id else None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if deck is None: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deck = (find_deck(decks, selected_deck_id(decks_dir))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    or sample_deck())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return deck, notes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真实源码(二)：战斗结算与素材加工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B0B2A6"/>
                </a:solidFill>
                <a:latin typeface="微软雅黑" panose="020B0503020204020204" charset="-122"/>
              </a:rPr>
              <a:t>出牌时的结算顺序 · 三槽素材：有空槽就装，满槽合料，装上后由承载牌触发</a:t>
            </a:r>
            <a:endParaRPr sz="120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35024"/>
            <a:ext cx="5532120" cy="452628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35024"/>
            <a:ext cx="64008" cy="4526280"/>
          </a:xfrm>
          <a:prstGeom prst="rect">
            <a:avLst/>
          </a:prstGeom>
          <a:solidFill>
            <a:srgbClr val="24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221224" cy="3573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248184"/>
                </a:solidFill>
                <a:latin typeface="微软雅黑" panose="020B0503020204020204" charset="-122"/>
              </a:rPr>
              <a:t>combat/resolver.py · 一次出牌的结算(第 18 行起)</a:t>
            </a:r>
            <a:endParaRPr sz="1150" b="1">
              <a:solidFill>
                <a:srgbClr val="248184"/>
              </a:solidFill>
              <a:latin typeface="微软雅黑" panose="020B0503020204020204" charset="-122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def resolve(self, card, target=None):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owner = self.combat.player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for eff in card.current_effects():        # 逐条执行本体效果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self._apply_effect(card, eff, target)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for cb in self.combat.after_card_played:  # 结算素材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cb(self.combat, card)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...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# 伤害：基础 + 力量，再乘虚弱与易伤，先扣格挡再扣血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if op == RewardEffectOperation.DAMAGE: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dmg = compute_attack_damage(amount, owner, t)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t.take_attack(dmg, owner)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# 打出「生成素材」的牌：素材变成一张手牌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elif op == RewardEffectOperation.ATTACH_MATERIAL: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material_id = (effect.material_id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       or self.combat.rng.choice(CORE_MATERIAL_IDS))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store(owner, make_material(material_id))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55080" y="1335024"/>
            <a:ext cx="5285232" cy="452628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35024"/>
            <a:ext cx="64008" cy="4526280"/>
          </a:xfrm>
          <a:prstGeom prst="rect">
            <a:avLst/>
          </a:prstGeom>
          <a:solidFill>
            <a:srgbClr val="248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444752"/>
            <a:ext cx="4974336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 b="1">
                <a:solidFill>
                  <a:srgbClr val="248184"/>
                </a:solidFill>
                <a:latin typeface="微软雅黑" panose="020B0503020204020204" charset="-122"/>
              </a:rPr>
              <a:t>soyoi/material_runtime.py · 素材加工(第 143 行起)</a:t>
            </a:r>
            <a:endParaRPr sz="1150" b="1">
              <a:solidFill>
                <a:srgbClr val="248184"/>
              </a:solidFill>
              <a:latin typeface="微软雅黑" panose="020B0503020204020204" charset="-122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def equip_from_hand(player, material, carrier, *,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         combat=None):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"""把手上一张素材牌装到另一张手牌上(相当于装备)."""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bundle = _bundle_of(player, material)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loadout = get_loadout(carrier)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slot = loadout.get_next_slot()          # 轮询空闲槽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existing = loadout.slots[slot]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if existing is None: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attach(player, carrier, slot, bundle)      # 有空槽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note = f"已把「{material.title}」加工到「{carrier.title}」"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else: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if MaterialCategory.CURSE in (existing.category,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                          bundle.category):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return False, f"「{carrier.title}」的素材槽满了，诅咒素材不能合料。"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attach(player, carrier, slot,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       existing.merge(bundle))         # 满槽:合料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note = f"「{carrier.title}」素材槽已满，改为合料"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...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for component in bundle.components: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    player.piles.exhaust(component)        # 素材牌进消耗堆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  <a:p>
            <a:pPr>
              <a:lnSpc>
                <a:spcPct val="114000"/>
              </a:lnSpc>
            </a:pPr>
            <a:r>
              <a:rPr sz="950" b="0">
                <a:solidFill>
                  <a:srgbClr val="EFE5CF"/>
                </a:solidFill>
                <a:latin typeface="Consolas" panose="020B0609020204030204"/>
              </a:rPr>
              <a:t>    return True, note</a:t>
            </a:r>
            <a:endParaRPr sz="950" b="0">
              <a:solidFill>
                <a:srgbClr val="EFE5CF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测试与文档：80 项自动测试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" y="1298448"/>
          <a:ext cx="11018520" cy="4030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556"/>
                <a:gridCol w="7712963"/>
              </a:tblGrid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测试文件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覆盖内容</a:t>
                      </a:r>
                      <a:endParaRPr sz="1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test_data</a:t>
                      </a:r>
                      <a:endParaRPr sz="16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创作端校验，JSON 往返，卡组，以及命令行入口</a:t>
                      </a:r>
                      <a:endParaRPr sz="16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test_ui</a:t>
                      </a:r>
                      <a:endParaRPr sz="16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创作端的真实控件流程(无需显示器)</a:t>
                      </a:r>
                      <a:endParaRPr sz="16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test_battle</a:t>
                      </a:r>
                      <a:endParaRPr sz="16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6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结算与素材，敌人与脚本敌人，战斗端界面，关键回归</a:t>
                      </a:r>
                      <a:endParaRPr sz="16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人员分工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216" y="86868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B0B2A6"/>
                </a:solidFill>
                <a:latin typeface="微软雅黑" panose="020B0503020204020204" charset="-122"/>
              </a:rPr>
              <a:t>按“层”分工，而不是按页面分工 —— 两人可同时提交，不会互相覆盖</a:t>
            </a:r>
            <a:endParaRPr sz="1250" b="0">
              <a:solidFill>
                <a:srgbClr val="B0B2A6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" y="1435607"/>
          <a:ext cx="1101851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2592"/>
                <a:gridCol w="2424074"/>
                <a:gridCol w="7051852"/>
              </a:tblGrid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成员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负责模块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具体工作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zh-CN"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孙浩程</a:t>
                      </a: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(</a:t>
                      </a:r>
                      <a:r>
                        <a:rPr lang="zh-CN"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创作</a:t>
                      </a: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端)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>
                          <a:solidFill>
                            <a:srgbClr val="EFE5CF"/>
                          </a:solidFill>
                          <a:latin typeface="微软雅黑" panose="020B0503020204020204" charset="-122"/>
                          <a:sym typeface="+mn-ea"/>
                        </a:rPr>
                        <a:t>创作端，数据与资产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  <a:sym typeface="+mn-ea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>
                          <a:solidFill>
                            <a:srgbClr val="EFE5CF"/>
                          </a:solidFill>
                          <a:latin typeface="微软雅黑" panose="020B0503020204020204" charset="-122"/>
                          <a:sym typeface="+mn-ea"/>
                        </a:rPr>
                        <a:t>Tkinter 造牌界面与卡面预览；输入校验；卡牌 / 素材牌 JSON 读写与卡组接入；</a:t>
                      </a:r>
                      <a:r>
                        <a:rPr sz="1150">
                          <a:solidFill>
                            <a:srgbClr val="EFE5CF"/>
                          </a:solidFill>
                          <a:latin typeface="微软雅黑" panose="020B0503020204020204" charset="-122"/>
                          <a:sym typeface="+mn-ea"/>
                        </a:rPr>
                        <a:t>pygame 战斗界面(画面，点击出牌，意图显示，敌人绘制)</a:t>
                      </a:r>
                      <a:endParaRPr sz="11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zh-CN"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申宇乐</a:t>
                      </a: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(</a:t>
                      </a:r>
                      <a:r>
                        <a:rPr lang="zh-CN"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战斗</a:t>
                      </a: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端)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zh-CN"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战斗端运行逻辑</a:t>
                      </a:r>
                      <a:endParaRPr lang="zh-CN"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lang="zh-CN" sz="11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战斗端打出，伤害，能量，生命，敌人意图，</a:t>
                      </a:r>
                      <a:r>
                        <a:rPr lang="en-US" altLang="zh-CN" sz="11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buff</a:t>
                      </a:r>
                      <a:r>
                        <a:rPr lang="zh-CN" altLang="en-US" sz="11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效果和合成等特性实现；留下新卡牌接口；设置测试及胜利条件判断机制</a:t>
                      </a:r>
                      <a:endParaRPr lang="zh-CN" altLang="en-US" sz="11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共同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测试与文档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80 项自动测试；程序说明文档；汇报材料与演示脚本</a:t>
                      </a:r>
                      <a:endParaRPr sz="115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216" y="5641848"/>
            <a:ext cx="11018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BB12F"/>
                </a:solidFill>
                <a:latin typeface="微软雅黑" panose="020B0503020204020204" charset="-122"/>
              </a:rPr>
              <a:t>分界线的实现方式：card_creator.py 与战斗框架都不 import 界面库，</a:t>
            </a:r>
            <a:endParaRPr sz="1200" b="1">
              <a:solidFill>
                <a:srgbClr val="EBB12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BB12F"/>
                </a:solidFill>
                <a:latin typeface="微软雅黑" panose="020B0503020204020204" charset="-122"/>
              </a:rPr>
              <a:t>两边只通过“卡牌记录”和“出牌指令”这两种数据打交道。</a:t>
            </a:r>
            <a:endParaRPr sz="12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BB12F"/>
                </a:solidFill>
                <a:latin typeface="微软雅黑" panose="020B0503020204020204" charset="-122"/>
              </a:rPr>
              <a:t>项目目标达成情况总结</a:t>
            </a:r>
            <a:endParaRPr sz="26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" y="1170432"/>
            <a:ext cx="1097280" cy="54864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2430" y="1298575"/>
          <a:ext cx="7101840" cy="532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967105"/>
                <a:gridCol w="3039745"/>
              </a:tblGrid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目标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结果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1F5C60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造牌界面：填名称 / 费用 / 效果并保存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✅ 达成</a:t>
                      </a:r>
                      <a:endParaRPr sz="1400" b="1">
                        <a:solidFill>
                          <a:srgbClr val="8FE3A4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10种效果，最多3条组合，实时卡面预览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卡牌存成 JSON，可重新加载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✅ 达成</a:t>
                      </a:r>
                      <a:endParaRPr sz="1400" b="1">
                        <a:solidFill>
                          <a:srgbClr val="8FE3A4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一条卡牌一个文件 + 一副卡组一个文件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玩家卡能进对局验证效果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✅ 达成</a:t>
                      </a:r>
                      <a:endParaRPr sz="1400" b="1">
                        <a:solidFill>
                          <a:srgbClr val="8FE3A4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与系统卡同一结算器，端到端测试覆盖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敌人可对局，有意图提示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✅ 超出</a:t>
                      </a:r>
                      <a:endParaRPr sz="1400" b="1">
                        <a:solidFill>
                          <a:srgbClr val="8FE3A4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5只代码敌人+3只脚本敌人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素材系统可用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✅ 超出</a:t>
                      </a:r>
                      <a:endParaRPr sz="1400" b="1">
                        <a:solidFill>
                          <a:srgbClr val="8FE3A4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玩家可自造素材牌并指定装到哪张牌上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自动测试保证质量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✅ </a:t>
                      </a:r>
                      <a:r>
                        <a:rPr lang="zh-CN" sz="1400" b="1">
                          <a:solidFill>
                            <a:srgbClr val="8FE3A4"/>
                          </a:solidFill>
                          <a:latin typeface="微软雅黑" panose="020B0503020204020204" charset="-122"/>
                        </a:rPr>
                        <a:t>达成</a:t>
                      </a:r>
                      <a:endParaRPr lang="zh-CN" sz="1400" b="1">
                        <a:solidFill>
                          <a:srgbClr val="8FE3A4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80 项测试全部通过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333C42"/>
                    </a:solidFill>
                  </a:tcPr>
                </a:tc>
              </a:tr>
              <a:tr h="666115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地图 / 商店 / 剧情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FF9B8A"/>
                          </a:solidFill>
                          <a:latin typeface="微软雅黑" panose="020B0503020204020204" charset="-122"/>
                        </a:rPr>
                        <a:t>❌ 未做</a:t>
                      </a:r>
                      <a:endParaRPr sz="1400" b="1">
                        <a:solidFill>
                          <a:srgbClr val="FF9B8A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EFE5CF"/>
                          </a:solidFill>
                          <a:latin typeface="微软雅黑" panose="020B0503020204020204" charset="-122"/>
                        </a:rPr>
                        <a:t>主动取舍：先保证主线完整</a:t>
                      </a:r>
                      <a:endParaRPr sz="1400" b="0">
                        <a:solidFill>
                          <a:srgbClr val="EFE5CF"/>
                        </a:solidFill>
                        <a:latin typeface="微软雅黑" panose="020B0503020204020204" charset="-122"/>
                      </a:endParaRPr>
                    </a:p>
                  </a:txBody>
                  <a:tcPr marL="64008" marR="45720" marT="18288" marB="18288" anchor="ctr">
                    <a:solidFill>
                      <a:srgbClr val="2B33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09560" y="1298448"/>
            <a:ext cx="370332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>
                <a:solidFill>
                  <a:srgbClr val="EBB12F"/>
                </a:solidFill>
                <a:latin typeface="微软雅黑" panose="020B0503020204020204" charset="-122"/>
              </a:rPr>
              <a:t>项目规模(真实数据)</a:t>
            </a:r>
            <a:endParaRPr sz="1600" b="1">
              <a:solidFill>
                <a:srgbClr val="EBB12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Python 代码 43 个文件，约 9700 行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四个主文件约 3500 行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起始牌组 10 张，奖励牌 40 张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敌人 8 只(5 代码 + 3 脚本)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卡面 45 张（另 1 张素材牌共用）+ 素材 6 种</a:t>
            </a:r>
            <a:endParaRPr sz="1150" b="1">
              <a:solidFill>
                <a:srgbClr val="8FE3A4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909560" y="4315968"/>
            <a:ext cx="3703320" cy="1371600"/>
          </a:xfrm>
          <a:prstGeom prst="rect">
            <a:avLst/>
          </a:prstGeom>
          <a:solidFill>
            <a:srgbClr val="25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4315968"/>
            <a:ext cx="64008" cy="1371600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5864" y="4407407"/>
            <a:ext cx="3410712" cy="1414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下一步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① 扩展需要新结算逻辑的效果(中毒，反击)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FE5CF"/>
                </a:solidFill>
                <a:latin typeface="微软雅黑" panose="020B0503020204020204" charset="-122"/>
              </a:rPr>
              <a:t>② 自制卡支持“当…时，触发…效果”的写法</a:t>
            </a: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endParaRPr sz="1400" b="0">
              <a:solidFill>
                <a:srgbClr val="EFE5C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13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188720" cy="73152"/>
          </a:xfrm>
          <a:prstGeom prst="rect">
            <a:avLst/>
          </a:prstGeom>
          <a:solidFill>
            <a:srgbClr val="EBB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EBB12F"/>
                </a:solidFill>
                <a:latin typeface="微软雅黑" panose="020B0503020204020204" charset="-122"/>
              </a:rPr>
              <a:t>总结</a:t>
            </a:r>
            <a:endParaRPr sz="34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EFE5CF"/>
                </a:solidFill>
                <a:latin typeface="微软雅黑" panose="020B0503020204020204" charset="-122"/>
              </a:rPr>
              <a:t>我们把重点放在创作端：让玩家自己造卡牌与素材，并立刻验证效果。</a:t>
            </a:r>
            <a:endParaRPr sz="20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1000"/>
              </a:spcAft>
            </a:pP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000" b="0">
                <a:solidFill>
                  <a:srgbClr val="EFE5CF"/>
                </a:solidFill>
                <a:latin typeface="微软雅黑" panose="020B0503020204020204" charset="-122"/>
              </a:rPr>
              <a:t>技术上最大的体会是：把界面和规则彻底分开之后，</a:t>
            </a:r>
            <a:endParaRPr sz="2000" b="0">
              <a:solidFill>
                <a:srgbClr val="EFE5CF"/>
              </a:solidFill>
              <a:latin typeface="微软雅黑" panose="020B0503020204020204" charset="-122"/>
            </a:endParaRP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2000" b="1">
                <a:solidFill>
                  <a:srgbClr val="EBB12F"/>
                </a:solidFill>
                <a:latin typeface="微软雅黑" panose="020B0503020204020204" charset="-122"/>
              </a:rPr>
              <a:t>测试，分工，扩展这三件事都变简单了。</a:t>
            </a:r>
            <a:endParaRPr sz="2000" b="1">
              <a:solidFill>
                <a:srgbClr val="EBB12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6745</Words>
  <Application>WPS 演示</Application>
  <PresentationFormat>On-screen Show (4:3)</PresentationFormat>
  <Paragraphs>412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申宇乐、孙浩程</dc:creator>
  <dc:description/>
  <cp:lastModifiedBy>申宇乐、孙浩程</cp:lastModifiedBy>
  <cp:revision>1</cp:revision>
  <dcterms:created xsi:type="dcterms:W3CDTF">2026-09-25T10:44:57Z</dcterms:created>
  <dcterms:modified xsi:type="dcterms:W3CDTF">2026-09-25T10:44:57Z</dcterms:modified>
</cp:coreProperties>
</file>

<file path=docProps/custom.xml><?xml version="1.0" encoding="utf-8"?>
<ns0:Properties xmlns:ns0="http://schemas.openxmlformats.org/officeDocument/2006/custom-properties"/>
</file>